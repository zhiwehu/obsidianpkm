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rial"/>
              </a:defRPr>
            </a:pPr>
            <a:r>
              <a:t>Cyberwing 产品路线图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457200"/>
            <a:ext cx="137160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0" y="457200"/>
            <a:ext cx="91440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457200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Arial"/>
              </a:defRPr>
            </a:pPr>
            <a:r>
              <a:t>March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457200"/>
            <a:ext cx="182880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45720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Arial"/>
              </a:defRPr>
            </a:pPr>
            <a:r>
              <a:t>April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457200"/>
            <a:ext cx="182880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45720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Arial"/>
              </a:defRPr>
            </a:pPr>
            <a:r>
              <a:t>May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457200"/>
            <a:ext cx="16459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457200"/>
            <a:ext cx="1645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Arial"/>
              </a:defRPr>
            </a:pPr>
            <a:r>
              <a:t>June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457200"/>
            <a:ext cx="16459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457200"/>
            <a:ext cx="1645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Arial"/>
              </a:defRPr>
            </a:pPr>
            <a:r>
              <a:t>July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457200"/>
            <a:ext cx="16459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457200"/>
            <a:ext cx="1645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Arial"/>
              </a:defRPr>
            </a:pPr>
            <a:r>
              <a:t>August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822960"/>
            <a:ext cx="1371600" cy="164592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822960"/>
            <a:ext cx="1371600" cy="1645920"/>
          </a:xfrm>
          <a:prstGeom prst="rect">
            <a:avLst/>
          </a:prstGeom>
          <a:noFill/>
        </p:spPr>
        <p:txBody>
          <a:bodyPr wrap="square" anchor="t" tIns="91440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  <a:latin typeface="Arial"/>
              </a:defRPr>
            </a:pPr>
            <a:r>
              <a:t>技术能力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0" y="822960"/>
            <a:ext cx="9144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0" y="822960"/>
            <a:ext cx="1828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33472" y="896112"/>
            <a:ext cx="1682496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1F2937"/>
                </a:solidFill>
                <a:latin typeface="Arial"/>
              </a:defRPr>
            </a:pPr>
            <a:r>
              <a:t>系统架构调整</a:t>
            </a:r>
          </a:p>
          <a:p>
            <a:pPr>
              <a:spcAft>
                <a:spcPts val="200"/>
              </a:spcAft>
              <a:defRPr sz="900">
                <a:solidFill>
                  <a:srgbClr val="1F2937"/>
                </a:solidFill>
                <a:latin typeface="Arial"/>
              </a:defRPr>
            </a:pPr>
            <a:r>
              <a:t>拾音系统优化</a:t>
            </a:r>
          </a:p>
          <a:p>
            <a:pPr>
              <a:spcAft>
                <a:spcPts val="200"/>
              </a:spcAft>
              <a:defRPr sz="900">
                <a:solidFill>
                  <a:srgbClr val="1F2937"/>
                </a:solidFill>
                <a:latin typeface="Arial"/>
              </a:defRPr>
            </a:pPr>
            <a:r>
              <a:t>声纹识别功能</a:t>
            </a:r>
          </a:p>
          <a:p>
            <a:pPr>
              <a:spcAft>
                <a:spcPts val="200"/>
              </a:spcAft>
              <a:defRPr sz="900">
                <a:solidFill>
                  <a:srgbClr val="1F2937"/>
                </a:solidFill>
                <a:latin typeface="Arial"/>
              </a:defRPr>
            </a:pPr>
            <a:r>
              <a:t>长短期记忆系统</a:t>
            </a:r>
          </a:p>
          <a:p>
            <a:pPr>
              <a:spcAft>
                <a:spcPts val="200"/>
              </a:spcAft>
              <a:defRPr sz="900">
                <a:solidFill>
                  <a:srgbClr val="1F2937"/>
                </a:solidFill>
                <a:latin typeface="Arial"/>
              </a:defRPr>
            </a:pPr>
            <a:r>
              <a:t>用户画像系统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822960"/>
            <a:ext cx="1828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2272" y="896112"/>
            <a:ext cx="1682496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1F2937"/>
                </a:solidFill>
                <a:latin typeface="Arial"/>
              </a:defRPr>
            </a:pPr>
            <a:r>
              <a:t>声纹识别功能</a:t>
            </a:r>
          </a:p>
          <a:p>
            <a:pPr>
              <a:spcAft>
                <a:spcPts val="200"/>
              </a:spcAft>
              <a:defRPr sz="900">
                <a:solidFill>
                  <a:srgbClr val="1F2937"/>
                </a:solidFill>
                <a:latin typeface="Arial"/>
              </a:defRPr>
            </a:pPr>
            <a:r>
              <a:t>长短期记忆系统</a:t>
            </a:r>
          </a:p>
          <a:p>
            <a:pPr>
              <a:spcAft>
                <a:spcPts val="200"/>
              </a:spcAft>
              <a:defRPr sz="900">
                <a:solidFill>
                  <a:srgbClr val="1F2937"/>
                </a:solidFill>
                <a:latin typeface="Arial"/>
              </a:defRPr>
            </a:pPr>
            <a:r>
              <a:t>用户画像系统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822960"/>
            <a:ext cx="1645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63840" y="822960"/>
            <a:ext cx="1645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09760" y="822960"/>
            <a:ext cx="1645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2468880"/>
            <a:ext cx="1371600" cy="164592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2468880"/>
            <a:ext cx="1371600" cy="1645920"/>
          </a:xfrm>
          <a:prstGeom prst="rect">
            <a:avLst/>
          </a:prstGeom>
          <a:noFill/>
        </p:spPr>
        <p:txBody>
          <a:bodyPr wrap="square" anchor="t" tIns="91440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  <a:latin typeface="Arial"/>
              </a:defRPr>
            </a:pPr>
            <a:r>
              <a:t>2C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45920" y="2468880"/>
            <a:ext cx="914400" cy="164592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19072" y="2542032"/>
            <a:ext cx="768096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F2937"/>
                </a:solidFill>
                <a:latin typeface="Arial"/>
              </a:defRPr>
            </a:pPr>
            <a:r>
              <a:t>3/25 VIP 发货</a:t>
            </a:r>
          </a:p>
          <a:p>
            <a:pPr>
              <a:spcAft>
                <a:spcPts val="200"/>
              </a:spcAft>
              <a:defRPr sz="900" b="1">
                <a:solidFill>
                  <a:srgbClr val="1F2937"/>
                </a:solidFill>
                <a:latin typeface="Arial"/>
              </a:defRPr>
            </a:pPr>
            <a:r>
              <a:t>3/31 SS</a:t>
            </a:r>
          </a:p>
          <a:p>
            <a:pPr>
              <a:spcAft>
                <a:spcPts val="200"/>
              </a:spcAft>
              <a:defRPr sz="900">
                <a:solidFill>
                  <a:srgbClr val="1F2937"/>
                </a:solidFill>
                <a:latin typeface="Arial"/>
              </a:defRPr>
            </a:pPr>
            <a:r>
              <a:t>SW 1.0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0" y="2468880"/>
            <a:ext cx="1828800" cy="164592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33472" y="2542032"/>
            <a:ext cx="1682496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F2937"/>
                </a:solidFill>
                <a:latin typeface="Arial"/>
              </a:defRPr>
            </a:pPr>
            <a:r>
              <a:t>4/10 后摩 LQ50 软硬件集成</a:t>
            </a:r>
          </a:p>
          <a:p>
            <a:pPr>
              <a:spcAft>
                <a:spcPts val="200"/>
              </a:spcAft>
              <a:defRPr sz="900" b="1">
                <a:solidFill>
                  <a:srgbClr val="1F2937"/>
                </a:solidFill>
                <a:latin typeface="Arial"/>
              </a:defRPr>
            </a:pPr>
            <a:r>
              <a:t>4/15 充值与积分管理</a:t>
            </a:r>
          </a:p>
          <a:p>
            <a:pPr>
              <a:spcAft>
                <a:spcPts val="200"/>
              </a:spcAft>
              <a:defRPr sz="900" b="1">
                <a:solidFill>
                  <a:srgbClr val="1F2937"/>
                </a:solidFill>
                <a:latin typeface="Arial"/>
              </a:defRPr>
            </a:pPr>
            <a:r>
              <a:t>4/30 文搜音频/视频能力</a:t>
            </a:r>
          </a:p>
          <a:p>
            <a:pPr>
              <a:spcAft>
                <a:spcPts val="200"/>
              </a:spcAft>
              <a:defRPr sz="900" b="1">
                <a:solidFill>
                  <a:srgbClr val="1F2937"/>
                </a:solidFill>
                <a:latin typeface="Arial"/>
              </a:defRPr>
            </a:pPr>
            <a:r>
              <a:t>4/30 HDMI 多媒体功能</a:t>
            </a:r>
          </a:p>
          <a:p>
            <a:pPr>
              <a:spcAft>
                <a:spcPts val="200"/>
              </a:spcAft>
              <a:defRPr sz="900">
                <a:solidFill>
                  <a:srgbClr val="1F2937"/>
                </a:solidFill>
                <a:latin typeface="Arial"/>
              </a:defRPr>
            </a:pPr>
            <a:r>
              <a:t>SW 1.1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2468880"/>
            <a:ext cx="1828800" cy="164592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62272" y="2542032"/>
            <a:ext cx="1682496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F2937"/>
                </a:solidFill>
                <a:latin typeface="Arial"/>
              </a:defRPr>
            </a:pPr>
            <a:r>
              <a:t>5/10 NAS PC 支持 AI 搜索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2468880"/>
            <a:ext cx="1645920" cy="164592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1072" y="2542032"/>
            <a:ext cx="1499616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1F2937"/>
                </a:solidFill>
                <a:latin typeface="Arial"/>
              </a:defRPr>
            </a:pPr>
            <a:r>
              <a:t>SW 2.0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0" y="2468880"/>
            <a:ext cx="1645920" cy="164592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509760" y="2468880"/>
            <a:ext cx="1645920" cy="164592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4114800"/>
            <a:ext cx="1371600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4114800"/>
            <a:ext cx="1371600" cy="1371600"/>
          </a:xfrm>
          <a:prstGeom prst="rect">
            <a:avLst/>
          </a:prstGeom>
          <a:noFill/>
        </p:spPr>
        <p:txBody>
          <a:bodyPr wrap="square" anchor="t" tIns="91440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  <a:latin typeface="Arial"/>
              </a:defRPr>
            </a:pPr>
            <a:r>
              <a:t>2B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45920" y="4114800"/>
            <a:ext cx="914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719072" y="4187952"/>
            <a:ext cx="768096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1F2937"/>
                </a:solidFill>
                <a:latin typeface="Arial"/>
              </a:defRPr>
            </a:pPr>
            <a:r>
              <a:t>摄影垂域智能相册 PRD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0" y="4114800"/>
            <a:ext cx="1828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33472" y="4187952"/>
            <a:ext cx="1682496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1F2937"/>
                </a:solidFill>
                <a:latin typeface="Arial"/>
              </a:defRPr>
            </a:pPr>
            <a:r>
              <a:t>摄影垂域智能相册开发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0" y="4114800"/>
            <a:ext cx="1828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62272" y="4187952"/>
            <a:ext cx="1682496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F2937"/>
                </a:solidFill>
                <a:latin typeface="Arial"/>
              </a:defRPr>
            </a:pPr>
            <a:r>
              <a:t>5/29 摄影垂域智能相册发布</a:t>
            </a:r>
          </a:p>
          <a:p>
            <a:pPr>
              <a:spcAft>
                <a:spcPts val="200"/>
              </a:spcAft>
              <a:defRPr sz="900">
                <a:solidFill>
                  <a:srgbClr val="1F2937"/>
                </a:solidFill>
                <a:latin typeface="Arial"/>
              </a:defRPr>
            </a:pPr>
            <a:r>
              <a:t>自动备份/AI 自动整理/人脸识别</a:t>
            </a:r>
          </a:p>
          <a:p>
            <a:pPr>
              <a:spcAft>
                <a:spcPts val="200"/>
              </a:spcAft>
              <a:defRPr sz="900">
                <a:solidFill>
                  <a:srgbClr val="1F2937"/>
                </a:solidFill>
                <a:latin typeface="Arial"/>
              </a:defRPr>
            </a:pPr>
            <a:r>
              <a:t>/自然语言检索/AI 去闭眼/模糊/</a:t>
            </a:r>
          </a:p>
          <a:p>
            <a:pPr>
              <a:spcAft>
                <a:spcPts val="200"/>
              </a:spcAft>
              <a:defRPr sz="900">
                <a:solidFill>
                  <a:srgbClr val="1F2937"/>
                </a:solidFill>
                <a:latin typeface="Arial"/>
              </a:defRPr>
            </a:pPr>
            <a:r>
              <a:t>表情异常图片等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4114800"/>
            <a:ext cx="1645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863840" y="4114800"/>
            <a:ext cx="1645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09760" y="4114800"/>
            <a:ext cx="1645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56692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Arial"/>
              </a:defRPr>
            </a:pPr>
            <a:r>
              <a:t>TIMELINE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